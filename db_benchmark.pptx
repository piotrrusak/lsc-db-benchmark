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TPS</c:v>
                </c:pt>
              </c:strCache>
            </c:strRef>
          </c:tx>
          <c:spPr>
            <a:solidFill>
              <a:srgbClr val="0D9488"/>
            </a:solidFill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Sheet1!$A$2:$A$121</c:f>
              <c:multiLvlStrCache>
                <c:ptCount val="120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>10</c:v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>20</c:v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>30</c:v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>40</c:v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>50</c:v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>60</c:v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>70</c:v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>80</c:v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>90</c:v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>100</c:v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>110</c:v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>120</c:v>
                  </c:pt>
                </c:lvl>
              </c:multiLvlStrCache>
            </c:multiLvlStrRef>
          </c:cat>
          <c:val>
            <c:numRef>
              <c:f>Sheet1!$B$2:$B$121</c:f>
              <c:numCache>
                <c:formatCode>General</c:formatCode>
                <c:ptCount val="120"/>
                <c:pt idx="0">
                  <c:v>451</c:v>
                </c:pt>
                <c:pt idx="1">
                  <c:v>420</c:v>
                </c:pt>
                <c:pt idx="2">
                  <c:v>401</c:v>
                </c:pt>
                <c:pt idx="3">
                  <c:v>416</c:v>
                </c:pt>
                <c:pt idx="4">
                  <c:v>411</c:v>
                </c:pt>
                <c:pt idx="5">
                  <c:v>384</c:v>
                </c:pt>
                <c:pt idx="6">
                  <c:v>380</c:v>
                </c:pt>
                <c:pt idx="7">
                  <c:v>356</c:v>
                </c:pt>
                <c:pt idx="8">
                  <c:v>398</c:v>
                </c:pt>
                <c:pt idx="9">
                  <c:v>392</c:v>
                </c:pt>
                <c:pt idx="10">
                  <c:v>420</c:v>
                </c:pt>
                <c:pt idx="11">
                  <c:v>365</c:v>
                </c:pt>
                <c:pt idx="12">
                  <c:v>420</c:v>
                </c:pt>
                <c:pt idx="13">
                  <c:v>409</c:v>
                </c:pt>
                <c:pt idx="14">
                  <c:v>226</c:v>
                </c:pt>
                <c:pt idx="15">
                  <c:v>334</c:v>
                </c:pt>
                <c:pt idx="16">
                  <c:v>446</c:v>
                </c:pt>
                <c:pt idx="17">
                  <c:v>461</c:v>
                </c:pt>
                <c:pt idx="18">
                  <c:v>467</c:v>
                </c:pt>
                <c:pt idx="19">
                  <c:v>415</c:v>
                </c:pt>
                <c:pt idx="20">
                  <c:v>443</c:v>
                </c:pt>
                <c:pt idx="21">
                  <c:v>451</c:v>
                </c:pt>
                <c:pt idx="22">
                  <c:v>454</c:v>
                </c:pt>
                <c:pt idx="23">
                  <c:v>423</c:v>
                </c:pt>
                <c:pt idx="24">
                  <c:v>415</c:v>
                </c:pt>
                <c:pt idx="25">
                  <c:v>433</c:v>
                </c:pt>
                <c:pt idx="26">
                  <c:v>444</c:v>
                </c:pt>
                <c:pt idx="27">
                  <c:v>450</c:v>
                </c:pt>
                <c:pt idx="28">
                  <c:v>391</c:v>
                </c:pt>
                <c:pt idx="29">
                  <c:v>445</c:v>
                </c:pt>
                <c:pt idx="30">
                  <c:v>440</c:v>
                </c:pt>
                <c:pt idx="31">
                  <c:v>442</c:v>
                </c:pt>
                <c:pt idx="32">
                  <c:v>419</c:v>
                </c:pt>
                <c:pt idx="33">
                  <c:v>445</c:v>
                </c:pt>
                <c:pt idx="34">
                  <c:v>475</c:v>
                </c:pt>
                <c:pt idx="35">
                  <c:v>433</c:v>
                </c:pt>
                <c:pt idx="36">
                  <c:v>387</c:v>
                </c:pt>
                <c:pt idx="37">
                  <c:v>452</c:v>
                </c:pt>
                <c:pt idx="38">
                  <c:v>444</c:v>
                </c:pt>
                <c:pt idx="39">
                  <c:v>468</c:v>
                </c:pt>
                <c:pt idx="40">
                  <c:v>420</c:v>
                </c:pt>
                <c:pt idx="41">
                  <c:v>427</c:v>
                </c:pt>
                <c:pt idx="42">
                  <c:v>373</c:v>
                </c:pt>
                <c:pt idx="43">
                  <c:v>305</c:v>
                </c:pt>
                <c:pt idx="44">
                  <c:v>78</c:v>
                </c:pt>
                <c:pt idx="45">
                  <c:v>286</c:v>
                </c:pt>
                <c:pt idx="46">
                  <c:v>365</c:v>
                </c:pt>
                <c:pt idx="47">
                  <c:v>341</c:v>
                </c:pt>
                <c:pt idx="48">
                  <c:v>320</c:v>
                </c:pt>
                <c:pt idx="49">
                  <c:v>424</c:v>
                </c:pt>
                <c:pt idx="50">
                  <c:v>456</c:v>
                </c:pt>
                <c:pt idx="51">
                  <c:v>411</c:v>
                </c:pt>
                <c:pt idx="52">
                  <c:v>445</c:v>
                </c:pt>
                <c:pt idx="53">
                  <c:v>415</c:v>
                </c:pt>
                <c:pt idx="54">
                  <c:v>444</c:v>
                </c:pt>
                <c:pt idx="55">
                  <c:v>426</c:v>
                </c:pt>
                <c:pt idx="56">
                  <c:v>401</c:v>
                </c:pt>
                <c:pt idx="57">
                  <c:v>440</c:v>
                </c:pt>
                <c:pt idx="58">
                  <c:v>459</c:v>
                </c:pt>
                <c:pt idx="59">
                  <c:v>443</c:v>
                </c:pt>
                <c:pt idx="60">
                  <c:v>416</c:v>
                </c:pt>
                <c:pt idx="61">
                  <c:v>419</c:v>
                </c:pt>
                <c:pt idx="62">
                  <c:v>443</c:v>
                </c:pt>
                <c:pt idx="63">
                  <c:v>419</c:v>
                </c:pt>
                <c:pt idx="64">
                  <c:v>448</c:v>
                </c:pt>
                <c:pt idx="65">
                  <c:v>364</c:v>
                </c:pt>
                <c:pt idx="66">
                  <c:v>420</c:v>
                </c:pt>
                <c:pt idx="67">
                  <c:v>457</c:v>
                </c:pt>
                <c:pt idx="68">
                  <c:v>437</c:v>
                </c:pt>
                <c:pt idx="69">
                  <c:v>414</c:v>
                </c:pt>
                <c:pt idx="70">
                  <c:v>393</c:v>
                </c:pt>
                <c:pt idx="71">
                  <c:v>426</c:v>
                </c:pt>
                <c:pt idx="72">
                  <c:v>426</c:v>
                </c:pt>
                <c:pt idx="73">
                  <c:v>390</c:v>
                </c:pt>
                <c:pt idx="74">
                  <c:v>439</c:v>
                </c:pt>
                <c:pt idx="75">
                  <c:v>198</c:v>
                </c:pt>
                <c:pt idx="76">
                  <c:v>419</c:v>
                </c:pt>
                <c:pt idx="77">
                  <c:v>435</c:v>
                </c:pt>
                <c:pt idx="78">
                  <c:v>424</c:v>
                </c:pt>
                <c:pt idx="79">
                  <c:v>431</c:v>
                </c:pt>
                <c:pt idx="80">
                  <c:v>454</c:v>
                </c:pt>
                <c:pt idx="81">
                  <c:v>435</c:v>
                </c:pt>
                <c:pt idx="82">
                  <c:v>451</c:v>
                </c:pt>
                <c:pt idx="83">
                  <c:v>420</c:v>
                </c:pt>
                <c:pt idx="84">
                  <c:v>455</c:v>
                </c:pt>
                <c:pt idx="85">
                  <c:v>428</c:v>
                </c:pt>
                <c:pt idx="86">
                  <c:v>454</c:v>
                </c:pt>
                <c:pt idx="87">
                  <c:v>403</c:v>
                </c:pt>
                <c:pt idx="88">
                  <c:v>453</c:v>
                </c:pt>
                <c:pt idx="89">
                  <c:v>417</c:v>
                </c:pt>
                <c:pt idx="90">
                  <c:v>442</c:v>
                </c:pt>
                <c:pt idx="91">
                  <c:v>423</c:v>
                </c:pt>
                <c:pt idx="92">
                  <c:v>427</c:v>
                </c:pt>
                <c:pt idx="93">
                  <c:v>452</c:v>
                </c:pt>
                <c:pt idx="94">
                  <c:v>449</c:v>
                </c:pt>
                <c:pt idx="95">
                  <c:v>409</c:v>
                </c:pt>
                <c:pt idx="96">
                  <c:v>407</c:v>
                </c:pt>
                <c:pt idx="97">
                  <c:v>455</c:v>
                </c:pt>
                <c:pt idx="98">
                  <c:v>429</c:v>
                </c:pt>
                <c:pt idx="99">
                  <c:v>451</c:v>
                </c:pt>
                <c:pt idx="100">
                  <c:v>402</c:v>
                </c:pt>
                <c:pt idx="101">
                  <c:v>452</c:v>
                </c:pt>
                <c:pt idx="102">
                  <c:v>335</c:v>
                </c:pt>
                <c:pt idx="103">
                  <c:v>268</c:v>
                </c:pt>
                <c:pt idx="104">
                  <c:v>68</c:v>
                </c:pt>
                <c:pt idx="105">
                  <c:v>206</c:v>
                </c:pt>
                <c:pt idx="106">
                  <c:v>338</c:v>
                </c:pt>
                <c:pt idx="107">
                  <c:v>362</c:v>
                </c:pt>
                <c:pt idx="108">
                  <c:v>323</c:v>
                </c:pt>
                <c:pt idx="109">
                  <c:v>416</c:v>
                </c:pt>
                <c:pt idx="110">
                  <c:v>436</c:v>
                </c:pt>
                <c:pt idx="111">
                  <c:v>396</c:v>
                </c:pt>
                <c:pt idx="112">
                  <c:v>452</c:v>
                </c:pt>
                <c:pt idx="113">
                  <c:v>457</c:v>
                </c:pt>
                <c:pt idx="114">
                  <c:v>453</c:v>
                </c:pt>
                <c:pt idx="115">
                  <c:v>380</c:v>
                </c:pt>
                <c:pt idx="116">
                  <c:v>436</c:v>
                </c:pt>
                <c:pt idx="117">
                  <c:v>431</c:v>
                </c:pt>
                <c:pt idx="118">
                  <c:v>443</c:v>
                </c:pt>
                <c:pt idx="119">
                  <c:v>407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4748B"/>
                    </a:solidFill>
                    <a:latin typeface="Arial"/>
                  </a:rPr>
                  <a:t>Time (seconds)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4748B"/>
                    </a:solidFill>
                    <a:latin typeface="Arial"/>
                  </a:rPr>
                  <a:t>Transactions per Second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TPS</c:v>
                </c:pt>
              </c:strCache>
            </c:strRef>
          </c:tx>
          <c:spPr>
            <a:solidFill>
              <a:srgbClr val="E05A4E"/>
            </a:solidFill>
            <a:ln w="25400" cap="flat">
              <a:solidFill>
                <a:srgbClr val="E05A4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05A4E"/>
              </a:solidFill>
              <a:ln w="9525" cap="flat">
                <a:solidFill>
                  <a:srgbClr val="E05A4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Sheet1!$A$2:$A$121</c:f>
              <c:multiLvlStrCache>
                <c:ptCount val="120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>10</c:v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>20</c:v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>30</c:v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>40</c:v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>50</c:v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>60</c:v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>70</c:v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>80</c:v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>90</c:v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>100</c:v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>110</c:v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>120</c:v>
                  </c:pt>
                </c:lvl>
              </c:multiLvlStrCache>
            </c:multiLvlStrRef>
          </c:cat>
          <c:val>
            <c:numRef>
              <c:f>Sheet1!$B$2:$B$121</c:f>
              <c:numCache>
                <c:formatCode>General</c:formatCode>
                <c:ptCount val="120"/>
                <c:pt idx="0">
                  <c:v>360</c:v>
                </c:pt>
                <c:pt idx="1">
                  <c:v>624</c:v>
                </c:pt>
                <c:pt idx="2">
                  <c:v>604</c:v>
                </c:pt>
                <c:pt idx="3">
                  <c:v>615</c:v>
                </c:pt>
                <c:pt idx="4">
                  <c:v>606</c:v>
                </c:pt>
                <c:pt idx="5">
                  <c:v>615</c:v>
                </c:pt>
                <c:pt idx="6">
                  <c:v>609</c:v>
                </c:pt>
                <c:pt idx="7">
                  <c:v>626</c:v>
                </c:pt>
                <c:pt idx="8">
                  <c:v>625</c:v>
                </c:pt>
                <c:pt idx="9">
                  <c:v>612</c:v>
                </c:pt>
                <c:pt idx="10">
                  <c:v>633</c:v>
                </c:pt>
                <c:pt idx="11">
                  <c:v>628</c:v>
                </c:pt>
                <c:pt idx="12">
                  <c:v>636</c:v>
                </c:pt>
                <c:pt idx="13">
                  <c:v>657</c:v>
                </c:pt>
                <c:pt idx="14">
                  <c:v>635</c:v>
                </c:pt>
                <c:pt idx="15">
                  <c:v>628</c:v>
                </c:pt>
                <c:pt idx="16">
                  <c:v>624</c:v>
                </c:pt>
                <c:pt idx="17">
                  <c:v>623</c:v>
                </c:pt>
                <c:pt idx="18">
                  <c:v>618</c:v>
                </c:pt>
                <c:pt idx="19">
                  <c:v>625</c:v>
                </c:pt>
                <c:pt idx="20">
                  <c:v>644</c:v>
                </c:pt>
                <c:pt idx="21">
                  <c:v>605</c:v>
                </c:pt>
                <c:pt idx="22">
                  <c:v>613</c:v>
                </c:pt>
                <c:pt idx="23">
                  <c:v>626</c:v>
                </c:pt>
                <c:pt idx="24">
                  <c:v>632</c:v>
                </c:pt>
                <c:pt idx="25">
                  <c:v>647</c:v>
                </c:pt>
                <c:pt idx="26">
                  <c:v>633</c:v>
                </c:pt>
                <c:pt idx="27">
                  <c:v>628</c:v>
                </c:pt>
                <c:pt idx="28">
                  <c:v>637</c:v>
                </c:pt>
                <c:pt idx="29">
                  <c:v>613</c:v>
                </c:pt>
                <c:pt idx="30">
                  <c:v>505</c:v>
                </c:pt>
                <c:pt idx="31">
                  <c:v>296</c:v>
                </c:pt>
                <c:pt idx="32">
                  <c:v>611</c:v>
                </c:pt>
                <c:pt idx="33">
                  <c:v>590</c:v>
                </c:pt>
                <c:pt idx="34">
                  <c:v>549</c:v>
                </c:pt>
                <c:pt idx="35">
                  <c:v>547</c:v>
                </c:pt>
                <c:pt idx="36">
                  <c:v>584</c:v>
                </c:pt>
                <c:pt idx="37">
                  <c:v>589</c:v>
                </c:pt>
                <c:pt idx="38">
                  <c:v>611</c:v>
                </c:pt>
                <c:pt idx="39">
                  <c:v>626</c:v>
                </c:pt>
                <c:pt idx="40">
                  <c:v>564</c:v>
                </c:pt>
                <c:pt idx="41">
                  <c:v>573</c:v>
                </c:pt>
                <c:pt idx="42">
                  <c:v>605</c:v>
                </c:pt>
                <c:pt idx="43">
                  <c:v>607</c:v>
                </c:pt>
                <c:pt idx="44">
                  <c:v>601</c:v>
                </c:pt>
                <c:pt idx="45">
                  <c:v>606</c:v>
                </c:pt>
                <c:pt idx="46">
                  <c:v>583</c:v>
                </c:pt>
                <c:pt idx="47">
                  <c:v>593</c:v>
                </c:pt>
                <c:pt idx="48">
                  <c:v>576</c:v>
                </c:pt>
                <c:pt idx="49">
                  <c:v>592</c:v>
                </c:pt>
                <c:pt idx="50">
                  <c:v>614</c:v>
                </c:pt>
                <c:pt idx="51">
                  <c:v>611</c:v>
                </c:pt>
                <c:pt idx="52">
                  <c:v>618</c:v>
                </c:pt>
                <c:pt idx="53">
                  <c:v>621</c:v>
                </c:pt>
                <c:pt idx="54">
                  <c:v>604</c:v>
                </c:pt>
                <c:pt idx="55">
                  <c:v>624</c:v>
                </c:pt>
                <c:pt idx="56">
                  <c:v>602</c:v>
                </c:pt>
                <c:pt idx="57">
                  <c:v>596</c:v>
                </c:pt>
                <c:pt idx="58">
                  <c:v>597</c:v>
                </c:pt>
                <c:pt idx="59">
                  <c:v>603</c:v>
                </c:pt>
                <c:pt idx="60">
                  <c:v>572</c:v>
                </c:pt>
                <c:pt idx="61">
                  <c:v>480</c:v>
                </c:pt>
                <c:pt idx="62">
                  <c:v>389</c:v>
                </c:pt>
                <c:pt idx="63">
                  <c:v>520</c:v>
                </c:pt>
                <c:pt idx="64">
                  <c:v>505</c:v>
                </c:pt>
                <c:pt idx="65">
                  <c:v>495</c:v>
                </c:pt>
                <c:pt idx="66">
                  <c:v>539</c:v>
                </c:pt>
                <c:pt idx="67">
                  <c:v>555</c:v>
                </c:pt>
                <c:pt idx="68">
                  <c:v>551</c:v>
                </c:pt>
                <c:pt idx="69">
                  <c:v>573</c:v>
                </c:pt>
                <c:pt idx="70">
                  <c:v>546</c:v>
                </c:pt>
                <c:pt idx="71">
                  <c:v>561</c:v>
                </c:pt>
                <c:pt idx="72">
                  <c:v>550</c:v>
                </c:pt>
                <c:pt idx="73">
                  <c:v>559</c:v>
                </c:pt>
                <c:pt idx="74">
                  <c:v>549</c:v>
                </c:pt>
                <c:pt idx="75">
                  <c:v>567</c:v>
                </c:pt>
                <c:pt idx="76">
                  <c:v>561</c:v>
                </c:pt>
                <c:pt idx="77">
                  <c:v>563</c:v>
                </c:pt>
                <c:pt idx="78">
                  <c:v>551</c:v>
                </c:pt>
                <c:pt idx="79">
                  <c:v>560</c:v>
                </c:pt>
                <c:pt idx="80">
                  <c:v>550</c:v>
                </c:pt>
                <c:pt idx="81">
                  <c:v>546</c:v>
                </c:pt>
                <c:pt idx="82">
                  <c:v>569</c:v>
                </c:pt>
                <c:pt idx="83">
                  <c:v>545</c:v>
                </c:pt>
                <c:pt idx="84">
                  <c:v>560</c:v>
                </c:pt>
                <c:pt idx="85">
                  <c:v>530</c:v>
                </c:pt>
                <c:pt idx="86">
                  <c:v>560</c:v>
                </c:pt>
                <c:pt idx="87">
                  <c:v>574</c:v>
                </c:pt>
                <c:pt idx="88">
                  <c:v>579</c:v>
                </c:pt>
                <c:pt idx="89">
                  <c:v>473</c:v>
                </c:pt>
                <c:pt idx="90">
                  <c:v>379</c:v>
                </c:pt>
                <c:pt idx="91">
                  <c:v>30</c:v>
                </c:pt>
                <c:pt idx="92">
                  <c:v>192</c:v>
                </c:pt>
                <c:pt idx="93">
                  <c:v>484</c:v>
                </c:pt>
                <c:pt idx="94">
                  <c:v>541</c:v>
                </c:pt>
                <c:pt idx="95">
                  <c:v>556</c:v>
                </c:pt>
                <c:pt idx="96">
                  <c:v>573</c:v>
                </c:pt>
                <c:pt idx="97">
                  <c:v>566</c:v>
                </c:pt>
                <c:pt idx="98">
                  <c:v>556</c:v>
                </c:pt>
                <c:pt idx="99">
                  <c:v>551</c:v>
                </c:pt>
                <c:pt idx="100">
                  <c:v>570</c:v>
                </c:pt>
                <c:pt idx="101">
                  <c:v>565</c:v>
                </c:pt>
                <c:pt idx="102">
                  <c:v>562</c:v>
                </c:pt>
                <c:pt idx="103">
                  <c:v>569</c:v>
                </c:pt>
                <c:pt idx="104">
                  <c:v>555</c:v>
                </c:pt>
                <c:pt idx="105">
                  <c:v>571</c:v>
                </c:pt>
                <c:pt idx="106">
                  <c:v>563</c:v>
                </c:pt>
                <c:pt idx="107">
                  <c:v>558</c:v>
                </c:pt>
                <c:pt idx="108">
                  <c:v>562</c:v>
                </c:pt>
                <c:pt idx="109">
                  <c:v>570</c:v>
                </c:pt>
                <c:pt idx="110">
                  <c:v>566</c:v>
                </c:pt>
                <c:pt idx="111">
                  <c:v>575</c:v>
                </c:pt>
                <c:pt idx="112">
                  <c:v>580</c:v>
                </c:pt>
                <c:pt idx="113">
                  <c:v>560</c:v>
                </c:pt>
                <c:pt idx="114">
                  <c:v>561</c:v>
                </c:pt>
                <c:pt idx="115">
                  <c:v>567</c:v>
                </c:pt>
                <c:pt idx="116">
                  <c:v>546</c:v>
                </c:pt>
                <c:pt idx="117">
                  <c:v>550</c:v>
                </c:pt>
                <c:pt idx="118">
                  <c:v>543</c:v>
                </c:pt>
                <c:pt idx="119">
                  <c:v>550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4748B"/>
                    </a:solidFill>
                    <a:latin typeface="Arial"/>
                  </a:rPr>
                  <a:t>Time (seconds)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4748B"/>
                    </a:solidFill>
                    <a:latin typeface="Arial"/>
                  </a:rPr>
                  <a:t>Transactions per Second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CockroachDB</c:v>
                </c:pt>
              </c:strCache>
            </c:strRef>
          </c:tx>
          <c:spPr>
            <a:solidFill>
              <a:srgbClr val="0D9488"/>
            </a:solidFill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Sheet1!$A$2:$A$121</c:f>
              <c:multiLvlStrCache>
                <c:ptCount val="120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>10</c:v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>20</c:v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>30</c:v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>40</c:v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>50</c:v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>60</c:v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>70</c:v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>80</c:v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>90</c:v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>100</c:v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>110</c:v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>120</c:v>
                  </c:pt>
                </c:lvl>
              </c:multiLvlStrCache>
            </c:multiLvlStrRef>
          </c:cat>
          <c:val>
            <c:numRef>
              <c:f>Sheet1!$B$2:$B$121</c:f>
              <c:numCache>
                <c:formatCode>General</c:formatCode>
                <c:ptCount val="120"/>
                <c:pt idx="0">
                  <c:v>451</c:v>
                </c:pt>
                <c:pt idx="1">
                  <c:v>420</c:v>
                </c:pt>
                <c:pt idx="2">
                  <c:v>401</c:v>
                </c:pt>
                <c:pt idx="3">
                  <c:v>416</c:v>
                </c:pt>
                <c:pt idx="4">
                  <c:v>411</c:v>
                </c:pt>
                <c:pt idx="5">
                  <c:v>384</c:v>
                </c:pt>
                <c:pt idx="6">
                  <c:v>380</c:v>
                </c:pt>
                <c:pt idx="7">
                  <c:v>356</c:v>
                </c:pt>
                <c:pt idx="8">
                  <c:v>398</c:v>
                </c:pt>
                <c:pt idx="9">
                  <c:v>392</c:v>
                </c:pt>
                <c:pt idx="10">
                  <c:v>420</c:v>
                </c:pt>
                <c:pt idx="11">
                  <c:v>365</c:v>
                </c:pt>
                <c:pt idx="12">
                  <c:v>420</c:v>
                </c:pt>
                <c:pt idx="13">
                  <c:v>409</c:v>
                </c:pt>
                <c:pt idx="14">
                  <c:v>226</c:v>
                </c:pt>
                <c:pt idx="15">
                  <c:v>334</c:v>
                </c:pt>
                <c:pt idx="16">
                  <c:v>446</c:v>
                </c:pt>
                <c:pt idx="17">
                  <c:v>461</c:v>
                </c:pt>
                <c:pt idx="18">
                  <c:v>467</c:v>
                </c:pt>
                <c:pt idx="19">
                  <c:v>415</c:v>
                </c:pt>
                <c:pt idx="20">
                  <c:v>443</c:v>
                </c:pt>
                <c:pt idx="21">
                  <c:v>451</c:v>
                </c:pt>
                <c:pt idx="22">
                  <c:v>454</c:v>
                </c:pt>
                <c:pt idx="23">
                  <c:v>423</c:v>
                </c:pt>
                <c:pt idx="24">
                  <c:v>415</c:v>
                </c:pt>
                <c:pt idx="25">
                  <c:v>433</c:v>
                </c:pt>
                <c:pt idx="26">
                  <c:v>444</c:v>
                </c:pt>
                <c:pt idx="27">
                  <c:v>450</c:v>
                </c:pt>
                <c:pt idx="28">
                  <c:v>391</c:v>
                </c:pt>
                <c:pt idx="29">
                  <c:v>445</c:v>
                </c:pt>
                <c:pt idx="30">
                  <c:v>440</c:v>
                </c:pt>
                <c:pt idx="31">
                  <c:v>442</c:v>
                </c:pt>
                <c:pt idx="32">
                  <c:v>419</c:v>
                </c:pt>
                <c:pt idx="33">
                  <c:v>445</c:v>
                </c:pt>
                <c:pt idx="34">
                  <c:v>475</c:v>
                </c:pt>
                <c:pt idx="35">
                  <c:v>433</c:v>
                </c:pt>
                <c:pt idx="36">
                  <c:v>387</c:v>
                </c:pt>
                <c:pt idx="37">
                  <c:v>452</c:v>
                </c:pt>
                <c:pt idx="38">
                  <c:v>444</c:v>
                </c:pt>
                <c:pt idx="39">
                  <c:v>468</c:v>
                </c:pt>
                <c:pt idx="40">
                  <c:v>420</c:v>
                </c:pt>
                <c:pt idx="41">
                  <c:v>427</c:v>
                </c:pt>
                <c:pt idx="42">
                  <c:v>373</c:v>
                </c:pt>
                <c:pt idx="43">
                  <c:v>305</c:v>
                </c:pt>
                <c:pt idx="44">
                  <c:v>78</c:v>
                </c:pt>
                <c:pt idx="45">
                  <c:v>286</c:v>
                </c:pt>
                <c:pt idx="46">
                  <c:v>365</c:v>
                </c:pt>
                <c:pt idx="47">
                  <c:v>341</c:v>
                </c:pt>
                <c:pt idx="48">
                  <c:v>320</c:v>
                </c:pt>
                <c:pt idx="49">
                  <c:v>424</c:v>
                </c:pt>
                <c:pt idx="50">
                  <c:v>456</c:v>
                </c:pt>
                <c:pt idx="51">
                  <c:v>411</c:v>
                </c:pt>
                <c:pt idx="52">
                  <c:v>445</c:v>
                </c:pt>
                <c:pt idx="53">
                  <c:v>415</c:v>
                </c:pt>
                <c:pt idx="54">
                  <c:v>444</c:v>
                </c:pt>
                <c:pt idx="55">
                  <c:v>426</c:v>
                </c:pt>
                <c:pt idx="56">
                  <c:v>401</c:v>
                </c:pt>
                <c:pt idx="57">
                  <c:v>440</c:v>
                </c:pt>
                <c:pt idx="58">
                  <c:v>459</c:v>
                </c:pt>
                <c:pt idx="59">
                  <c:v>443</c:v>
                </c:pt>
                <c:pt idx="60">
                  <c:v>416</c:v>
                </c:pt>
                <c:pt idx="61">
                  <c:v>419</c:v>
                </c:pt>
                <c:pt idx="62">
                  <c:v>443</c:v>
                </c:pt>
                <c:pt idx="63">
                  <c:v>419</c:v>
                </c:pt>
                <c:pt idx="64">
                  <c:v>448</c:v>
                </c:pt>
                <c:pt idx="65">
                  <c:v>364</c:v>
                </c:pt>
                <c:pt idx="66">
                  <c:v>420</c:v>
                </c:pt>
                <c:pt idx="67">
                  <c:v>457</c:v>
                </c:pt>
                <c:pt idx="68">
                  <c:v>437</c:v>
                </c:pt>
                <c:pt idx="69">
                  <c:v>414</c:v>
                </c:pt>
                <c:pt idx="70">
                  <c:v>393</c:v>
                </c:pt>
                <c:pt idx="71">
                  <c:v>426</c:v>
                </c:pt>
                <c:pt idx="72">
                  <c:v>426</c:v>
                </c:pt>
                <c:pt idx="73">
                  <c:v>390</c:v>
                </c:pt>
                <c:pt idx="74">
                  <c:v>439</c:v>
                </c:pt>
                <c:pt idx="75">
                  <c:v>198</c:v>
                </c:pt>
                <c:pt idx="76">
                  <c:v>419</c:v>
                </c:pt>
                <c:pt idx="77">
                  <c:v>435</c:v>
                </c:pt>
                <c:pt idx="78">
                  <c:v>424</c:v>
                </c:pt>
                <c:pt idx="79">
                  <c:v>431</c:v>
                </c:pt>
                <c:pt idx="80">
                  <c:v>454</c:v>
                </c:pt>
                <c:pt idx="81">
                  <c:v>435</c:v>
                </c:pt>
                <c:pt idx="82">
                  <c:v>451</c:v>
                </c:pt>
                <c:pt idx="83">
                  <c:v>420</c:v>
                </c:pt>
                <c:pt idx="84">
                  <c:v>455</c:v>
                </c:pt>
                <c:pt idx="85">
                  <c:v>428</c:v>
                </c:pt>
                <c:pt idx="86">
                  <c:v>454</c:v>
                </c:pt>
                <c:pt idx="87">
                  <c:v>403</c:v>
                </c:pt>
                <c:pt idx="88">
                  <c:v>453</c:v>
                </c:pt>
                <c:pt idx="89">
                  <c:v>417</c:v>
                </c:pt>
                <c:pt idx="90">
                  <c:v>442</c:v>
                </c:pt>
                <c:pt idx="91">
                  <c:v>423</c:v>
                </c:pt>
                <c:pt idx="92">
                  <c:v>427</c:v>
                </c:pt>
                <c:pt idx="93">
                  <c:v>452</c:v>
                </c:pt>
                <c:pt idx="94">
                  <c:v>449</c:v>
                </c:pt>
                <c:pt idx="95">
                  <c:v>409</c:v>
                </c:pt>
                <c:pt idx="96">
                  <c:v>407</c:v>
                </c:pt>
                <c:pt idx="97">
                  <c:v>455</c:v>
                </c:pt>
                <c:pt idx="98">
                  <c:v>429</c:v>
                </c:pt>
                <c:pt idx="99">
                  <c:v>451</c:v>
                </c:pt>
                <c:pt idx="100">
                  <c:v>402</c:v>
                </c:pt>
                <c:pt idx="101">
                  <c:v>452</c:v>
                </c:pt>
                <c:pt idx="102">
                  <c:v>335</c:v>
                </c:pt>
                <c:pt idx="103">
                  <c:v>268</c:v>
                </c:pt>
                <c:pt idx="104">
                  <c:v>68</c:v>
                </c:pt>
                <c:pt idx="105">
                  <c:v>206</c:v>
                </c:pt>
                <c:pt idx="106">
                  <c:v>338</c:v>
                </c:pt>
                <c:pt idx="107">
                  <c:v>362</c:v>
                </c:pt>
                <c:pt idx="108">
                  <c:v>323</c:v>
                </c:pt>
                <c:pt idx="109">
                  <c:v>416</c:v>
                </c:pt>
                <c:pt idx="110">
                  <c:v>436</c:v>
                </c:pt>
                <c:pt idx="111">
                  <c:v>396</c:v>
                </c:pt>
                <c:pt idx="112">
                  <c:v>452</c:v>
                </c:pt>
                <c:pt idx="113">
                  <c:v>457</c:v>
                </c:pt>
                <c:pt idx="114">
                  <c:v>453</c:v>
                </c:pt>
                <c:pt idx="115">
                  <c:v>380</c:v>
                </c:pt>
                <c:pt idx="116">
                  <c:v>436</c:v>
                </c:pt>
                <c:pt idx="117">
                  <c:v>431</c:v>
                </c:pt>
                <c:pt idx="118">
                  <c:v>443</c:v>
                </c:pt>
                <c:pt idx="119">
                  <c:v>407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YugabyteDB</c:v>
                </c:pt>
              </c:strCache>
            </c:strRef>
          </c:tx>
          <c:spPr>
            <a:solidFill>
              <a:srgbClr val="E05A4E"/>
            </a:solidFill>
            <a:ln w="25400" cap="flat">
              <a:solidFill>
                <a:srgbClr val="E05A4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05A4E"/>
              </a:solidFill>
              <a:ln w="9525" cap="flat">
                <a:solidFill>
                  <a:srgbClr val="E05A4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Sheet1!$A$2:$A$121</c:f>
              <c:multiLvlStrCache>
                <c:ptCount val="120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>10</c:v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>20</c:v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>30</c:v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>40</c:v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>50</c:v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>60</c:v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>70</c:v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>80</c:v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>90</c:v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>100</c:v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>110</c:v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>120</c:v>
                  </c:pt>
                </c:lvl>
              </c:multiLvlStrCache>
            </c:multiLvlStrRef>
          </c:cat>
          <c:val>
            <c:numRef>
              <c:f>Sheet1!$C$2:$C$121</c:f>
              <c:numCache>
                <c:formatCode>General</c:formatCode>
                <c:ptCount val="120"/>
                <c:pt idx="0">
                  <c:v>360</c:v>
                </c:pt>
                <c:pt idx="1">
                  <c:v>624</c:v>
                </c:pt>
                <c:pt idx="2">
                  <c:v>604</c:v>
                </c:pt>
                <c:pt idx="3">
                  <c:v>615</c:v>
                </c:pt>
                <c:pt idx="4">
                  <c:v>606</c:v>
                </c:pt>
                <c:pt idx="5">
                  <c:v>615</c:v>
                </c:pt>
                <c:pt idx="6">
                  <c:v>609</c:v>
                </c:pt>
                <c:pt idx="7">
                  <c:v>626</c:v>
                </c:pt>
                <c:pt idx="8">
                  <c:v>625</c:v>
                </c:pt>
                <c:pt idx="9">
                  <c:v>612</c:v>
                </c:pt>
                <c:pt idx="10">
                  <c:v>633</c:v>
                </c:pt>
                <c:pt idx="11">
                  <c:v>628</c:v>
                </c:pt>
                <c:pt idx="12">
                  <c:v>636</c:v>
                </c:pt>
                <c:pt idx="13">
                  <c:v>657</c:v>
                </c:pt>
                <c:pt idx="14">
                  <c:v>635</c:v>
                </c:pt>
                <c:pt idx="15">
                  <c:v>628</c:v>
                </c:pt>
                <c:pt idx="16">
                  <c:v>624</c:v>
                </c:pt>
                <c:pt idx="17">
                  <c:v>623</c:v>
                </c:pt>
                <c:pt idx="18">
                  <c:v>618</c:v>
                </c:pt>
                <c:pt idx="19">
                  <c:v>625</c:v>
                </c:pt>
                <c:pt idx="20">
                  <c:v>644</c:v>
                </c:pt>
                <c:pt idx="21">
                  <c:v>605</c:v>
                </c:pt>
                <c:pt idx="22">
                  <c:v>613</c:v>
                </c:pt>
                <c:pt idx="23">
                  <c:v>626</c:v>
                </c:pt>
                <c:pt idx="24">
                  <c:v>632</c:v>
                </c:pt>
                <c:pt idx="25">
                  <c:v>647</c:v>
                </c:pt>
                <c:pt idx="26">
                  <c:v>633</c:v>
                </c:pt>
                <c:pt idx="27">
                  <c:v>628</c:v>
                </c:pt>
                <c:pt idx="28">
                  <c:v>637</c:v>
                </c:pt>
                <c:pt idx="29">
                  <c:v>613</c:v>
                </c:pt>
                <c:pt idx="30">
                  <c:v>505</c:v>
                </c:pt>
                <c:pt idx="31">
                  <c:v>296</c:v>
                </c:pt>
                <c:pt idx="32">
                  <c:v>611</c:v>
                </c:pt>
                <c:pt idx="33">
                  <c:v>590</c:v>
                </c:pt>
                <c:pt idx="34">
                  <c:v>549</c:v>
                </c:pt>
                <c:pt idx="35">
                  <c:v>547</c:v>
                </c:pt>
                <c:pt idx="36">
                  <c:v>584</c:v>
                </c:pt>
                <c:pt idx="37">
                  <c:v>589</c:v>
                </c:pt>
                <c:pt idx="38">
                  <c:v>611</c:v>
                </c:pt>
                <c:pt idx="39">
                  <c:v>626</c:v>
                </c:pt>
                <c:pt idx="40">
                  <c:v>564</c:v>
                </c:pt>
                <c:pt idx="41">
                  <c:v>573</c:v>
                </c:pt>
                <c:pt idx="42">
                  <c:v>605</c:v>
                </c:pt>
                <c:pt idx="43">
                  <c:v>607</c:v>
                </c:pt>
                <c:pt idx="44">
                  <c:v>601</c:v>
                </c:pt>
                <c:pt idx="45">
                  <c:v>606</c:v>
                </c:pt>
                <c:pt idx="46">
                  <c:v>583</c:v>
                </c:pt>
                <c:pt idx="47">
                  <c:v>593</c:v>
                </c:pt>
                <c:pt idx="48">
                  <c:v>576</c:v>
                </c:pt>
                <c:pt idx="49">
                  <c:v>592</c:v>
                </c:pt>
                <c:pt idx="50">
                  <c:v>614</c:v>
                </c:pt>
                <c:pt idx="51">
                  <c:v>611</c:v>
                </c:pt>
                <c:pt idx="52">
                  <c:v>618</c:v>
                </c:pt>
                <c:pt idx="53">
                  <c:v>621</c:v>
                </c:pt>
                <c:pt idx="54">
                  <c:v>604</c:v>
                </c:pt>
                <c:pt idx="55">
                  <c:v>624</c:v>
                </c:pt>
                <c:pt idx="56">
                  <c:v>602</c:v>
                </c:pt>
                <c:pt idx="57">
                  <c:v>596</c:v>
                </c:pt>
                <c:pt idx="58">
                  <c:v>597</c:v>
                </c:pt>
                <c:pt idx="59">
                  <c:v>603</c:v>
                </c:pt>
                <c:pt idx="60">
                  <c:v>572</c:v>
                </c:pt>
                <c:pt idx="61">
                  <c:v>480</c:v>
                </c:pt>
                <c:pt idx="62">
                  <c:v>389</c:v>
                </c:pt>
                <c:pt idx="63">
                  <c:v>520</c:v>
                </c:pt>
                <c:pt idx="64">
                  <c:v>505</c:v>
                </c:pt>
                <c:pt idx="65">
                  <c:v>495</c:v>
                </c:pt>
                <c:pt idx="66">
                  <c:v>539</c:v>
                </c:pt>
                <c:pt idx="67">
                  <c:v>555</c:v>
                </c:pt>
                <c:pt idx="68">
                  <c:v>551</c:v>
                </c:pt>
                <c:pt idx="69">
                  <c:v>573</c:v>
                </c:pt>
                <c:pt idx="70">
                  <c:v>546</c:v>
                </c:pt>
                <c:pt idx="71">
                  <c:v>561</c:v>
                </c:pt>
                <c:pt idx="72">
                  <c:v>550</c:v>
                </c:pt>
                <c:pt idx="73">
                  <c:v>559</c:v>
                </c:pt>
                <c:pt idx="74">
                  <c:v>549</c:v>
                </c:pt>
                <c:pt idx="75">
                  <c:v>567</c:v>
                </c:pt>
                <c:pt idx="76">
                  <c:v>561</c:v>
                </c:pt>
                <c:pt idx="77">
                  <c:v>563</c:v>
                </c:pt>
                <c:pt idx="78">
                  <c:v>551</c:v>
                </c:pt>
                <c:pt idx="79">
                  <c:v>560</c:v>
                </c:pt>
                <c:pt idx="80">
                  <c:v>550</c:v>
                </c:pt>
                <c:pt idx="81">
                  <c:v>546</c:v>
                </c:pt>
                <c:pt idx="82">
                  <c:v>569</c:v>
                </c:pt>
                <c:pt idx="83">
                  <c:v>545</c:v>
                </c:pt>
                <c:pt idx="84">
                  <c:v>560</c:v>
                </c:pt>
                <c:pt idx="85">
                  <c:v>530</c:v>
                </c:pt>
                <c:pt idx="86">
                  <c:v>560</c:v>
                </c:pt>
                <c:pt idx="87">
                  <c:v>574</c:v>
                </c:pt>
                <c:pt idx="88">
                  <c:v>579</c:v>
                </c:pt>
                <c:pt idx="89">
                  <c:v>473</c:v>
                </c:pt>
                <c:pt idx="90">
                  <c:v>379</c:v>
                </c:pt>
                <c:pt idx="91">
                  <c:v>30</c:v>
                </c:pt>
                <c:pt idx="92">
                  <c:v>192</c:v>
                </c:pt>
                <c:pt idx="93">
                  <c:v>484</c:v>
                </c:pt>
                <c:pt idx="94">
                  <c:v>541</c:v>
                </c:pt>
                <c:pt idx="95">
                  <c:v>556</c:v>
                </c:pt>
                <c:pt idx="96">
                  <c:v>573</c:v>
                </c:pt>
                <c:pt idx="97">
                  <c:v>566</c:v>
                </c:pt>
                <c:pt idx="98">
                  <c:v>556</c:v>
                </c:pt>
                <c:pt idx="99">
                  <c:v>551</c:v>
                </c:pt>
                <c:pt idx="100">
                  <c:v>570</c:v>
                </c:pt>
                <c:pt idx="101">
                  <c:v>565</c:v>
                </c:pt>
                <c:pt idx="102">
                  <c:v>562</c:v>
                </c:pt>
                <c:pt idx="103">
                  <c:v>569</c:v>
                </c:pt>
                <c:pt idx="104">
                  <c:v>555</c:v>
                </c:pt>
                <c:pt idx="105">
                  <c:v>571</c:v>
                </c:pt>
                <c:pt idx="106">
                  <c:v>563</c:v>
                </c:pt>
                <c:pt idx="107">
                  <c:v>558</c:v>
                </c:pt>
                <c:pt idx="108">
                  <c:v>562</c:v>
                </c:pt>
                <c:pt idx="109">
                  <c:v>570</c:v>
                </c:pt>
                <c:pt idx="110">
                  <c:v>566</c:v>
                </c:pt>
                <c:pt idx="111">
                  <c:v>575</c:v>
                </c:pt>
                <c:pt idx="112">
                  <c:v>580</c:v>
                </c:pt>
                <c:pt idx="113">
                  <c:v>560</c:v>
                </c:pt>
                <c:pt idx="114">
                  <c:v>561</c:v>
                </c:pt>
                <c:pt idx="115">
                  <c:v>567</c:v>
                </c:pt>
                <c:pt idx="116">
                  <c:v>546</c:v>
                </c:pt>
                <c:pt idx="117">
                  <c:v>550</c:v>
                </c:pt>
                <c:pt idx="118">
                  <c:v>543</c:v>
                </c:pt>
                <c:pt idx="119">
                  <c:v>550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4748B"/>
                    </a:solidFill>
                    <a:latin typeface="Arial"/>
                  </a:rPr>
                  <a:t>Time (seconds)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4748B"/>
                    </a:solidFill>
                    <a:latin typeface="Arial"/>
                  </a:rPr>
                  <a:t>Transactions per Second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82296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Database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02920" y="25146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CockroachDB  vs  YugabyteDB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32004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</a:rPr>
              <a:t>Network Partition Chaos Testing on AWS EC2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3931920"/>
            <a:ext cx="2286000" cy="411480"/>
          </a:xfrm>
          <a:prstGeom prst="roundRect">
            <a:avLst>
              <a:gd name="adj" fmla="val 22222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9319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CockroachDB v24.1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0" y="3931920"/>
            <a:ext cx="2286000" cy="411480"/>
          </a:xfrm>
          <a:prstGeom prst="roundRect">
            <a:avLst>
              <a:gd name="adj" fmla="val 22222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39319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YugabyteDB 2025.2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Test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CockroachDB vs YugabyteDB — AWS Benchmark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3931920" cy="3200400"/>
        </p:xfrm>
        <a:graphic>
          <a:graphicData uri="http://schemas.openxmlformats.org/drawingml/2006/table">
            <a:tbl>
              <a:tblPr/>
              <a:tblGrid>
                <a:gridCol w="1920240"/>
                <a:gridCol w="2011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Setting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Cloud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</a:rPr>
                        <a:t>AWS EC2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Instance Type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</a:rPr>
                        <a:t>t3.medium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OS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</a:rPr>
                        <a:t>Ubuntu 22.04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Storage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</a:rPr>
                        <a:t>≥ 20 GB gp3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Network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</a:rPr>
                        <a:t>Same VPC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Key Pair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</a:rPr>
                        <a:t>Shared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349240" y="1234440"/>
            <a:ext cx="10972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ysDash"/>
          </a:ln>
        </p:spPr>
      </p:sp>
      <p:sp>
        <p:nvSpPr>
          <p:cNvPr id="7" name="Shape 4"/>
          <p:cNvSpPr/>
          <p:nvPr/>
        </p:nvSpPr>
        <p:spPr>
          <a:xfrm>
            <a:off x="5166360" y="1234440"/>
            <a:ext cx="667512" cy="7772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ysDash"/>
          </a:ln>
        </p:spPr>
      </p:sp>
      <p:sp>
        <p:nvSpPr>
          <p:cNvPr id="8" name="Shape 5"/>
          <p:cNvSpPr/>
          <p:nvPr/>
        </p:nvSpPr>
        <p:spPr>
          <a:xfrm>
            <a:off x="6537960" y="1234440"/>
            <a:ext cx="-667512" cy="7772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ysDash"/>
          </a:ln>
        </p:spPr>
      </p:sp>
      <p:sp>
        <p:nvSpPr>
          <p:cNvPr id="9" name="Shape 6"/>
          <p:cNvSpPr/>
          <p:nvPr/>
        </p:nvSpPr>
        <p:spPr>
          <a:xfrm>
            <a:off x="6080760" y="3108960"/>
            <a:ext cx="0" cy="-5029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46320" y="868680"/>
            <a:ext cx="13716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46320" y="9052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Node 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46320" y="1252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10.0.0.11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00800" y="868680"/>
            <a:ext cx="13716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00800" y="9052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Node 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0" y="1252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10.0.0.12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623560" y="2011680"/>
            <a:ext cx="13716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623560" y="20482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Node 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623560" y="2395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10.0.0.13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623560" y="3108960"/>
            <a:ext cx="137160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623560" y="314553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Client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623560" y="3493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10.0.0.14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480560" y="41148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DB Cluster (3 nodes)  ←→  Benchmark Client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CockroachDB — Cluster Setup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CockroachDB vs YugabyteDB — AWS Benchmark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3474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79552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Start each node (example: Node 1)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161288"/>
            <a:ext cx="859536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207008"/>
            <a:ext cx="8595360" cy="1444752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34440"/>
            <a:ext cx="832104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cockroach start --insecure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--store=node1-data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--listen-addr=10.0.0.11:26257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--http-addr=10.0.0.11:8080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--join=10.0.0.11:26257,10.0.0.12:26257,10.0.0.13:26257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--cache=1GB --max-sql-memory=1GB --background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743200"/>
            <a:ext cx="3474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743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76148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Initialize the cluster (from client)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127248"/>
            <a:ext cx="859536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172968"/>
            <a:ext cx="8595360" cy="393192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0040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cockroach init --insecure --host=10.0.0.11:26257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657600"/>
            <a:ext cx="3474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657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367588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Create database &amp; load data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4041648"/>
            <a:ext cx="859536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4087368"/>
            <a:ext cx="8595360" cy="603504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114800"/>
            <a:ext cx="832104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cockroach sql --insecure --host=10.0.0.11 -e "CREATE DATABASE benchmark;"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pgbench -i -s 10 -h 10.0.0.11 -p 26257 -U root -d benchmark --init-steps=dtgpf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YugabyteDB — Cluster Setup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CockroachDB vs YugabyteDB — AWS Benchmark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347472" cy="347472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79552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Start Node 1 (bootstrap)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161288"/>
            <a:ext cx="8595360" cy="45720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207008"/>
            <a:ext cx="8595360" cy="813816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34440"/>
            <a:ext cx="83210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C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./bin/yugabyted start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--advertise_address=10.0.0.11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--cloud_location=aws.us-east-1.us-east-1a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112264"/>
            <a:ext cx="347472" cy="347472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112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13055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Join remaining nodes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96312"/>
            <a:ext cx="8595360" cy="45720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542032"/>
            <a:ext cx="8595360" cy="1024128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69464"/>
            <a:ext cx="832104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C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./bin/yugabyted start --advertise_address=10.0.0.12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--join=10.0.0.11 --cloud_location=aws.us-east-1.us-east-1b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./bin/yugabyted start --advertise_address=10.0.0.13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--join=10.0.0.11 --cloud_location=aws.us-east-1.us-east-1c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657600"/>
            <a:ext cx="347472" cy="347472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657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367588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Create database &amp; load data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4041648"/>
            <a:ext cx="8595360" cy="45720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4087368"/>
            <a:ext cx="8595360" cy="603504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114800"/>
            <a:ext cx="832104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C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./bin/ysqlsh -h 10.0.0.11 -c "CREATE DATABASE benchmark;"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C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pgbench -i -s 10 -h 10.0.0.11 -p 5433 -U yugabyte -d benchmark --init-steps=dtgpf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Benchmark Methodology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CockroachDB vs YugabyteDB — AWS Benchmark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77240"/>
            <a:ext cx="41148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pgbench Configuration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252728"/>
            <a:ext cx="411480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DDE1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5272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Clients (-c)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97480" y="125272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8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691640"/>
            <a:ext cx="4114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69164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Threads (-j)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97480" y="16916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130552"/>
            <a:ext cx="411480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DDE1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13055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Duration (-T)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97480" y="213055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120 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569464"/>
            <a:ext cx="4114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56946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Scale factor (-s)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97480" y="256946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10 (1M rows)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008376"/>
            <a:ext cx="411480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DDE1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00837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Isolation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97480" y="300837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SERIALIZABLE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447288"/>
            <a:ext cx="4114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4728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Progress interval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97480" y="344728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1 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777240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777240"/>
            <a:ext cx="41148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777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Network Partition Timeline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73168" y="137160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73752" y="1572768"/>
            <a:ext cx="0" cy="512064"/>
          </a:xfrm>
          <a:prstGeom prst="line">
            <a:avLst/>
          </a:prstGeom>
          <a:noFill/>
          <a:ln w="15240">
            <a:solidFill>
              <a:srgbClr val="94A3B8"/>
            </a:solidFill>
            <a:prstDash val="sysDash"/>
          </a:ln>
        </p:spPr>
      </p:sp>
      <p:sp>
        <p:nvSpPr>
          <p:cNvPr id="31" name="Text 29"/>
          <p:cNvSpPr/>
          <p:nvPr/>
        </p:nvSpPr>
        <p:spPr>
          <a:xfrm>
            <a:off x="5047488" y="133502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 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0" y="133502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Workload starts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73168" y="2029968"/>
            <a:ext cx="201168" cy="201168"/>
          </a:xfrm>
          <a:prstGeom prst="ellipse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73752" y="2231136"/>
            <a:ext cx="0" cy="512064"/>
          </a:xfrm>
          <a:prstGeom prst="line">
            <a:avLst/>
          </a:prstGeom>
          <a:noFill/>
          <a:ln w="15240">
            <a:solidFill>
              <a:srgbClr val="94A3B8"/>
            </a:solidFill>
            <a:prstDash val="sysDash"/>
          </a:ln>
        </p:spPr>
      </p:sp>
      <p:sp>
        <p:nvSpPr>
          <p:cNvPr id="35" name="Text 33"/>
          <p:cNvSpPr/>
          <p:nvPr/>
        </p:nvSpPr>
        <p:spPr>
          <a:xfrm>
            <a:off x="5047488" y="199339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A4E"/>
                </a:solidFill>
              </a:rPr>
              <a:t>30 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69280" y="19933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iptables DROP injected on Node 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(cuts Node 3 from cluster)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73168" y="268833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73752" y="2889504"/>
            <a:ext cx="0" cy="512064"/>
          </a:xfrm>
          <a:prstGeom prst="line">
            <a:avLst/>
          </a:prstGeom>
          <a:noFill/>
          <a:ln w="15240">
            <a:solidFill>
              <a:srgbClr val="94A3B8"/>
            </a:solidFill>
            <a:prstDash val="sysDash"/>
          </a:ln>
        </p:spPr>
      </p:sp>
      <p:sp>
        <p:nvSpPr>
          <p:cNvPr id="39" name="Text 37"/>
          <p:cNvSpPr/>
          <p:nvPr/>
        </p:nvSpPr>
        <p:spPr>
          <a:xfrm>
            <a:off x="5047488" y="26517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60 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669280" y="2651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iptables -F — partition healed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(Node 3 rejoins cluster)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73168" y="3346704"/>
            <a:ext cx="201168" cy="20116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47488" y="33101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120 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669280" y="33101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Benchmark ends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65760" y="41148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Transaction: SELECT + UPDATE on pgbench_accounts (custom serializable_txn.sql)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CockroachDB — TPS During Network Partition Test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CockroachDB vs YugabyteDB — AWS Benchmark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713232"/>
          <a:ext cx="84124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3022854" y="749808"/>
            <a:ext cx="0" cy="3703320"/>
          </a:xfrm>
          <a:prstGeom prst="line">
            <a:avLst/>
          </a:prstGeom>
          <a:noFill/>
          <a:ln w="19050">
            <a:solidFill>
              <a:srgbClr val="E05A4E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3041142" y="77724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A4E"/>
                </a:solidFill>
              </a:rPr>
              <a:t>Partition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E05A4E"/>
                </a:solidFill>
              </a:rPr>
              <a:t>injected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E05A4E"/>
                </a:solidFill>
              </a:rPr>
              <a:t>s=30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860036" y="749808"/>
            <a:ext cx="0" cy="3703320"/>
          </a:xfrm>
          <a:prstGeom prst="line">
            <a:avLst/>
          </a:prstGeom>
          <a:noFill/>
          <a:ln w="19050">
            <a:solidFill>
              <a:srgbClr val="22C55E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4878324" y="77724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Partition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healed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s=60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YugabyteDB — TPS During Network Partition Test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CockroachDB vs YugabyteDB — AWS Benchmark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713232"/>
          <a:ext cx="84124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3022854" y="749808"/>
            <a:ext cx="0" cy="3703320"/>
          </a:xfrm>
          <a:prstGeom prst="line">
            <a:avLst/>
          </a:prstGeom>
          <a:noFill/>
          <a:ln w="19050">
            <a:solidFill>
              <a:srgbClr val="FF6B6B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3041142" y="77724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6B"/>
                </a:solidFill>
              </a:rPr>
              <a:t>Partition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6B6B"/>
                </a:solidFill>
              </a:rPr>
              <a:t>injected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6B6B"/>
                </a:solidFill>
              </a:rPr>
              <a:t>s=30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860036" y="749808"/>
            <a:ext cx="0" cy="3703320"/>
          </a:xfrm>
          <a:prstGeom prst="line">
            <a:avLst/>
          </a:prstGeom>
          <a:noFill/>
          <a:ln w="19050">
            <a:solidFill>
              <a:srgbClr val="22C55E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4878324" y="347472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Partition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healed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s=60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TPS Comparison — Both Databases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CockroachDB vs YugabyteDB — AWS Benchmark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713232"/>
          <a:ext cx="84124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3022854" y="749808"/>
            <a:ext cx="0" cy="3703320"/>
          </a:xfrm>
          <a:prstGeom prst="line">
            <a:avLst/>
          </a:prstGeom>
          <a:noFill/>
          <a:ln w="15240">
            <a:solidFill>
              <a:srgbClr val="475569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2236470" y="10972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75569"/>
                </a:solidFill>
              </a:rPr>
              <a:t>s=30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rgbClr val="475569"/>
                </a:solidFill>
              </a:rPr>
              <a:t>partition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860036" y="749808"/>
            <a:ext cx="0" cy="3703320"/>
          </a:xfrm>
          <a:prstGeom prst="line">
            <a:avLst/>
          </a:prstGeom>
          <a:noFill/>
          <a:ln w="15240">
            <a:solidFill>
              <a:srgbClr val="475569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4878324" y="109728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</a:rPr>
              <a:t>s=60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</a:rPr>
              <a:t>healed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Benchmark Results —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CockroachDB vs YugabyteDB — AWS Benchmark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8412480" cy="4114800"/>
        </p:xfrm>
        <a:graphic>
          <a:graphicData uri="http://schemas.openxmlformats.org/drawingml/2006/table">
            <a:tbl>
              <a:tblPr/>
              <a:tblGrid>
                <a:gridCol w="384048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CockroachDB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YugabyteDB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5A4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Avg TPS (overall)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406.7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566.9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Avg Latency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19.7 ms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14.1 ms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Latency Std Dev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8.8 ms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8.5 ms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Total Transactions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48,805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67,890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Failed Transactions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3 (0.006%)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0 (0.000%)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Min TPS during partition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68 tps (s=105)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30 tps (s=92)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Recovery time (initial partition s=30)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~15 s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~3 s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Recovery time (post-heal s=60)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~5 s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~3 s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Conclusions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152144"/>
            <a:ext cx="292608" cy="292608"/>
          </a:xfrm>
          <a:prstGeom prst="rect">
            <a:avLst/>
          </a:prstGeom>
          <a:solidFill>
            <a:srgbClr val="E05A4E">
              <a:alpha val="80000"/>
            </a:srgbClr>
          </a:solidFill>
          <a:ln w="12700">
            <a:solidFill>
              <a:srgbClr val="E05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52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5A4E"/>
                </a:solidFill>
              </a:rPr>
              <a:t>▲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078992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YugabyteDB delivered 39% higher throughput (567 vs 407 TPS) and 28% lower latency (14.1 vs 19.7 ms) under the same workload.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911096"/>
            <a:ext cx="292608" cy="29260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11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⚡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837944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YugabyteDB recovered from the initial partition in ~3 s. CockroachDB took ~15 s — Raft leader re-election over real WAN RTT adds measurable delay.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670048"/>
            <a:ext cx="292608" cy="292608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70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596896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CockroachDB completed all 30 seconds of partition with 0 transaction failures while in the degraded window — strong consistency guarantee held.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429000"/>
            <a:ext cx="292608" cy="292608"/>
          </a:xfrm>
          <a:prstGeom prst="rect">
            <a:avLst/>
          </a:prstGeom>
          <a:solidFill>
            <a:srgbClr val="E05A4E">
              <a:alpha val="80000"/>
            </a:srgbClr>
          </a:solidFill>
          <a:ln w="12700">
            <a:solidFill>
              <a:srgbClr val="E05A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429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5A4E"/>
                </a:solidFill>
              </a:rPr>
              <a:t>⚠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355848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YugabyteDB dropped to 30 TPS at second 92 (post-heal disruption), suggesting additional Raft re-balancing after the partition cleared.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4187952"/>
            <a:ext cx="292608" cy="292608"/>
          </a:xfrm>
          <a:prstGeom prst="rect">
            <a:avLst/>
          </a:prstGeom>
          <a:solidFill>
            <a:srgbClr val="CADCFC">
              <a:alpha val="8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187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=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41148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Both systems maintained cluster integrity throughout the test: no data loss, no split-brain, consensus-safe behavior confirmed.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DB Benchmark: CockroachDB vs YugabyteDB</dc:title>
  <dc:subject>PptxGenJS Presentation</dc:subject>
  <dc:creator>PptxGenJS</dc:creator>
  <cp:lastModifiedBy>PptxGenJS</cp:lastModifiedBy>
  <cp:revision>1</cp:revision>
  <dcterms:created xsi:type="dcterms:W3CDTF">2026-05-26T20:26:18Z</dcterms:created>
  <dcterms:modified xsi:type="dcterms:W3CDTF">2026-05-26T20:26:18Z</dcterms:modified>
</cp:coreProperties>
</file>